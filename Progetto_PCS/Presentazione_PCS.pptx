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17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3429000"/>
            <a:ext cx="9144000" cy="164592"/>
          </a:xfrm>
          <a:prstGeom prst="rect">
            <a:avLst/>
          </a:prstGeom>
          <a:solidFill>
            <a:srgbClr val="14A9AE"/>
          </a:solidFill>
          <a:ln w="12700">
            <a:solidFill>
              <a:srgbClr val="14A9A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Progetto PCS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cadute di tensione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 circuito modellato a grafo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157734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utilizzati: Grafi · Algoritmo di DePina · Gradiente Coniugato · Eigen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Obiettivo e vincoli sul formato del file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calcola le cadute di tensione di un circuito passato tramite un file testuale strutturato in n righe e 4 colonne: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9202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/ G / GI)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42032" y="192024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542032" y="1920240"/>
            <a:ext cx="19202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542032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2032" y="221284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Intensità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(valore numerico)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26864" y="192024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626864" y="1920240"/>
            <a:ext cx="19202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626864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6864" y="221284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sinistra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11696" y="192024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6711696" y="1920240"/>
            <a:ext cx="19202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711696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11696" y="221284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destra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Assunzioni sul file di input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resistenza in parallelo (al più un resistore per coppia di nodi)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sono presenti due generatori sullo stesso arco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sono presenti generatori e resistenze sullo stesso arco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bene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937760" y="3657600"/>
            <a:ext cx="3840480" cy="1188720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074920" y="37033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caso di violazione dei vincoli, viene considerata solo l'ultima riga che attraversa quell'arco.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Codici esterni importati e librerie utilizzate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321040" cy="1097280"/>
          </a:xfrm>
          <a:prstGeom prst="rect">
            <a:avLst/>
          </a:prstGeom>
          <a:solidFill>
            <a:srgbClr val="E8F4FD"/>
          </a:solidFill>
          <a:ln w="19050">
            <a:solidFill>
              <a:srgbClr val="14A9A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Attenzione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questa esercitazione sono stati riutilizzati e commentati i codici sviluppati nell'esercitazione 8, nell'esercitazione 10 e nell'esercitazione sull'algoritmo di DePina.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Librerie utilizzate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9144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Eigen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9260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coniugato, soluzione delle leggi di Kirchhoff, calcoli matriciali nel main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9144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3703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della coda nell'algoritmo di DePina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Specifiche sui generatori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Convenzione sui morsetti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file di input, il nodo di sinistra rappresenta il morsetto positivo (+) e quello di destra il morsetto negativo (−).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dell'inversione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Poiché si utilizzano esclusivamente archi orientati dal nodo minore a quello maggiore, in caso di inversione dei nodi il tipo viene classificato come "generatore invertito".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606040"/>
          <a:ext cx="6583680" cy="12344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Morsetto sinistro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Morsetto destro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Generatore normale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(positivo)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(negativo)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Generatore invertito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(negativo)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(positivo)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0690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questo modo si mantiene la coerenza con la polarità dei morsetti indipendentemente dall'ordine in cui i nodi compaiono nel file.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 — Struttura e funzioni (parte 1/2)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main è progettato per essere pulito e leggibile: le strutture dati vengono inizializzate nel main e popolate tramite funzioni esterne dedicate.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321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9144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8368" y="18196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lettura_file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1305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il file di input, costruisce il grafo non orientato e distribuisce i dati nelle strutture dati utilizzate nelle fasi successive.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321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9144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58368" y="27797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ricevi_resistori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30906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Raccoglie tutti i resistori del grafo in un insieme separato per facilitarne l'accesso e l'elaborazione.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321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9144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58368" y="37398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ricevi_generatori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40507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Raccoglie tutti i generatori del grafo in un insieme separato.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 — Struttura e funzioni (parte 2/2)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91440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58368" y="11795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riempi_R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4721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matrice diagonale inserendo le intensità delle resistenze secondo l'ordine restituito da ricevi_resistori.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9144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58368" y="20253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riempi_B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23682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matrice coerente con ricevi_resistori e in relazione </a:t>
            </a:r>
            <a:r>
              <a:rPr lang="it-IT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maglie (che saranno i cicli minimi se si sceglie di usare de Pina oppure cicli non necessariamente minimi se si integra un metodo con la </a:t>
            </a:r>
            <a:r>
              <a:rPr lang="it-IT" sz="13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r>
              <a:rPr lang="it-IT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ricorsiva per trovarli) 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grafo.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57200" y="2935224"/>
            <a:ext cx="91440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58368" y="2971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riempi_v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32644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vettore </a:t>
            </a:r>
            <a:r>
              <a:rPr lang="en-US" sz="13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coerente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it-IT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maglie (che saranno i cicli minimi se si sceglie di usare de Pina oppure cicli non necessariamente minimi se si integra un metodo con la </a:t>
            </a:r>
            <a:r>
              <a:rPr lang="it-IT" sz="13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r>
              <a:rPr lang="it-IT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ricorsiva per trovarli )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grafo.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3210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Infine, nel main vengono gestiti: dichiarazioni di variabili e strutture dati · chiamate alle funzioni · calcoli matriciali con Eigen · creazione dell'oggetto GradienteConiugato · esecuzione dei calcoli e stampe dei risultati.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Struttura dati: Grafo (parte 1/2)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circuito è modellato come un grafo non orientato.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 principali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94360" y="2203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249631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 che contiene tutti i nodi del grafo; essendo un set, i duplicati vengono ignorati automaticamente.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4360" y="336499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 che, data una coppia (nodo_min, nodo_max), stabilisce l'esistenza di una coppia di archi bidirezionali; la bidirezionalità è resa possibile dall'attributo vicini.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94360" y="39410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vicini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4360" y="423367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map&lt;int, set&lt;int&gt;&gt;: per ogni nodo (chiave intera) memorizza l'insieme dei nodi adiacenti.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Struttura dati: Grafo (parte 2/2)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di inserimento di un arco (nodoA → nodoB)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dell'arco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057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L'arco viene aggiunto all'insieme degli archi; in caso di duplicato il set lo ignora automaticamente.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07208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dei nodi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 nodoA sia nodoB vengono aggiunti all'insieme dei nodi; i duplicati vengono ignorati.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13048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5720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Aggiornamento di vicini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aggiunge nodoB a vicini[nodoA] e nodoA a vicini[nodoB], garantendo la bidirezionalità del grafo.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8321040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9436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Risultato: se è possibile andare da nodoA a nodoB, allora è possibile anche il percorso inverso → il grafo è non orientato.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Algoritmo di DePina — Base dei cicli minimi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Motivazioni per la scelta dell'algoritmo di DePina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3210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709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Cicli minimi come maglie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06654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possibili configurazioni delle maglie del circuito coincidono con i cicli minimi del grafo, che l'algoritmo di DePina calcola in modo efficiente.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3210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27157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Correttezza matematica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07238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circuito è modellabile come un grafo planare; l'algoritmo di DePina è matematicamente corretto per questa classe di grafi.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3210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37216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computazionale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07822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complessità è O(m²·n·log n). Poiché il grafo è sparso (m ≈ n), ciò si traduce in O(n³·log n) per n → ∞, accettabile per le dimensioni attese.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Metodo del Gradiente Coniugato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4069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metodo è applicabile perché la </a:t>
            </a:r>
            <a:r>
              <a:rPr lang="en-US" sz="13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</a:t>
            </a: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A, ottenuta combinando B e R, è definita positiva e simmetrica. Sono stati inseriti controlli interni per verificare queste proprietà prima dell'esecuzione.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069080" cy="1618488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Condizione di terminazione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55448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caso di matrice mal condizionata (resistenze anomale), il programma si interrompe se non converge entro 10·dim(v) </a:t>
            </a:r>
            <a:r>
              <a:rPr lang="en-US" sz="1300" dirty="0" err="1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iterazioni</a:t>
            </a:r>
            <a:r>
              <a:rPr lang="en-US" sz="130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soglia derivata dalla teoria dei </a:t>
            </a:r>
            <a:r>
              <a:rPr lang="en-US" sz="1300" dirty="0" err="1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</a:t>
            </a:r>
            <a:r>
              <a:rPr lang="en-US" sz="130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numerici</a:t>
            </a:r>
            <a:r>
              <a:rPr lang="en-US" sz="130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evitando loop infiniti.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della complessità computazionale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5029200" cy="14630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Ordine di complessità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Numero di iterazioni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per iterazione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totale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O(n³)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0" y="3429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n è la dimensione del vettore v (numero di cicli minimi indipendenti).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996</Words>
  <Application>Microsoft Office PowerPoint</Application>
  <PresentationFormat>Presentazione su schermo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Circuiti e Sistemi – PCS</dc:title>
  <dc:subject>PptxGenJS Presentation</dc:subject>
  <dc:creator>PptxGenJS</dc:creator>
  <cp:lastModifiedBy>FLAVIO ZANOTTO</cp:lastModifiedBy>
  <cp:revision>3</cp:revision>
  <dcterms:created xsi:type="dcterms:W3CDTF">2026-06-03T10:32:37Z</dcterms:created>
  <dcterms:modified xsi:type="dcterms:W3CDTF">2026-06-10T19:27:44Z</dcterms:modified>
</cp:coreProperties>
</file>